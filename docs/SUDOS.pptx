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67" r:id="rId4"/>
    <p:sldId id="268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546" autoAdjust="0"/>
  </p:normalViewPr>
  <p:slideViewPr>
    <p:cSldViewPr snapToGrid="0" snapToObjects="1">
      <p:cViewPr varScale="1">
        <p:scale>
          <a:sx n="84" d="100"/>
          <a:sy n="84" d="100"/>
        </p:scale>
        <p:origin x="14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137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5196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5253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6939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effectLst>
                  <a:glow rad="152400">
                    <a:srgbClr val="4A9EFF">
                      <a:alpha val="40000"/>
                    </a:srgb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SUDOS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Urban Delivery Optimization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0"/>
            <a:ext cx="7772400" cy="0"/>
          </a:xfrm>
          <a:prstGeom prst="line">
            <a:avLst/>
          </a:prstGeom>
          <a:noFill/>
          <a:ln w="19050">
            <a:solidFill>
              <a:srgbClr val="4A9EFF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2636638"/>
            <a:ext cx="8412480" cy="1090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 |  Course Project  |  April 2026</a:t>
            </a:r>
          </a:p>
          <a:p>
            <a:r>
              <a:rPr lang="en-IN" sz="1200" b="1" u="sng" dirty="0">
                <a:solidFill>
                  <a:schemeClr val="bg1">
                    <a:lumMod val="75000"/>
                  </a:schemeClr>
                </a:solidFill>
              </a:rPr>
              <a:t>Submitted by:</a:t>
            </a:r>
            <a:endParaRPr lang="en-IN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IN" sz="1200" dirty="0">
                <a:solidFill>
                  <a:schemeClr val="bg1">
                    <a:lumMod val="75000"/>
                  </a:schemeClr>
                </a:solidFill>
              </a:rPr>
              <a:t>ROHAN KUMAR – 24BDS0463</a:t>
            </a:r>
          </a:p>
          <a:p>
            <a:r>
              <a:rPr lang="en-IN" sz="1200" dirty="0">
                <a:solidFill>
                  <a:schemeClr val="bg1">
                    <a:lumMod val="75000"/>
                  </a:schemeClr>
                </a:solidFill>
              </a:rPr>
              <a:t>ATVIK SHARMA – 24BCT0025</a:t>
            </a:r>
          </a:p>
          <a:p>
            <a:r>
              <a:rPr lang="en-IN" sz="1200" dirty="0">
                <a:solidFill>
                  <a:schemeClr val="bg1">
                    <a:lumMod val="75000"/>
                  </a:schemeClr>
                </a:solidFill>
              </a:rPr>
              <a:t>MD RAKSHSHAN SAIF – 24BKT0164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858768"/>
            <a:ext cx="1554480" cy="347472"/>
          </a:xfrm>
          <a:prstGeom prst="rect">
            <a:avLst/>
          </a:prstGeom>
          <a:solidFill>
            <a:srgbClr val="2A35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" y="385173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Dijkstra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93976" y="3858768"/>
            <a:ext cx="1554480" cy="347472"/>
          </a:xfrm>
          <a:prstGeom prst="rect">
            <a:avLst/>
          </a:prstGeom>
          <a:solidFill>
            <a:srgbClr val="2A35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2121408" y="38587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Floyd-Warshall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77056" y="3869319"/>
            <a:ext cx="1554480" cy="347472"/>
          </a:xfrm>
          <a:prstGeom prst="rect">
            <a:avLst/>
          </a:prstGeom>
          <a:solidFill>
            <a:srgbClr val="2A35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3877056" y="3869319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DP TSP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2704" y="3851734"/>
            <a:ext cx="1554480" cy="347472"/>
          </a:xfrm>
          <a:prstGeom prst="rect">
            <a:avLst/>
          </a:prstGeom>
          <a:solidFill>
            <a:srgbClr val="2A35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32704" y="38587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Max-Flow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60920" y="3851734"/>
            <a:ext cx="1554480" cy="347472"/>
          </a:xfrm>
          <a:prstGeom prst="rect">
            <a:avLst/>
          </a:prstGeom>
          <a:solidFill>
            <a:srgbClr val="2A35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7388352" y="385173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Greedy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Inspired by Amazon  •  Swiggy  •  Blinkit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51"/>
    </mc:Choice>
    <mc:Fallback xmlns="">
      <p:transition spd="slow" advTm="5095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0B2E75-F6B2-F9C8-C7D2-A5DD8540F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8792"/>
            <a:ext cx="9144000" cy="520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241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224"/>
    </mc:Choice>
    <mc:Fallback xmlns="">
      <p:transition spd="slow" advTm="4722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BBD239-1FFF-89B9-3157-7EDD2EAD7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6" y="0"/>
            <a:ext cx="912162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136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613"/>
    </mc:Choice>
    <mc:Fallback xmlns="">
      <p:transition spd="slow" advTm="4261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F76564-9159-49E9-5167-3BF547EC3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6968"/>
            <a:ext cx="9144000" cy="531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101"/>
    </mc:Choice>
    <mc:Fallback xmlns="">
      <p:transition spd="slow" advTm="4310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Challenge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743200" cy="7315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🗺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shortest path visiting all delivery points — a variant of the NP-Hard Traveling Salesman Problem.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0040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Assignment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26974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Fairly distribute delivery zones across multiple agents without overloading any individual agent.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71600"/>
            <a:ext cx="2743200" cy="7315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2648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 Optimality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26974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algorithms guarantee best routes but are slow. Heuristics are fast but approximate. We need both.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FA8"/>
                </a:solidFill>
              </a:rPr>
              <a:t>Goal: Model a city as a graph → assign deliveries to agents → compute optimal/near-optimal routes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594"/>
    </mc:Choice>
    <mc:Fallback xmlns="">
      <p:transition spd="slow" advTm="9159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1463040" cy="1463040"/>
          </a:xfrm>
          <a:prstGeom prst="rect">
            <a:avLst/>
          </a:prstGeom>
          <a:solidFill>
            <a:srgbClr val="1E5FA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965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City Graph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FF"/>
                </a:solidFill>
              </a:rPr>
              <a:t>Adj List + Matrix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DDDFF"/>
                </a:solidFill>
              </a:rPr>
              <a:t>12 nodes, 19 edges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09928" y="2194560"/>
            <a:ext cx="237744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2103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65960" y="1463040"/>
            <a:ext cx="1463040" cy="1463040"/>
          </a:xfrm>
          <a:prstGeom prst="rect">
            <a:avLst/>
          </a:prstGeom>
          <a:solidFill>
            <a:srgbClr val="7B2D8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65960" y="1965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APSP Pre-compute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FF"/>
                </a:solidFill>
              </a:rPr>
              <a:t>Floyd-Warshall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DDDFF"/>
                </a:solidFill>
              </a:rPr>
              <a:t>O(V³) once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47288" y="2194560"/>
            <a:ext cx="237744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103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03320" y="1463040"/>
            <a:ext cx="1463040" cy="1463040"/>
          </a:xfrm>
          <a:prstGeom prst="rect">
            <a:avLst/>
          </a:prstGeom>
          <a:solidFill>
            <a:srgbClr val="00C9A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0332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03320" y="1965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 Assignment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03320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FF"/>
                </a:solidFill>
              </a:rPr>
              <a:t>Max-Flow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DDDFF"/>
                </a:solidFill>
              </a:rPr>
              <a:t>Ford-Fulkerson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84648" y="2194560"/>
            <a:ext cx="237744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2103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0680" y="1463040"/>
            <a:ext cx="1463040" cy="1463040"/>
          </a:xfrm>
          <a:prstGeom prst="rect">
            <a:avLst/>
          </a:prstGeom>
          <a:solidFill>
            <a:srgbClr val="FF6B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4068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40680" y="1965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 Planning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FF"/>
                </a:solidFill>
              </a:rPr>
              <a:t>Greedy / DP / Insertion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DDDFF"/>
                </a:solidFill>
              </a:rPr>
              <a:t>Per agent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22008" y="2194560"/>
            <a:ext cx="237744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103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78040" y="1463040"/>
            <a:ext cx="1463040" cy="1463040"/>
          </a:xfrm>
          <a:prstGeom prst="rect">
            <a:avLst/>
          </a:prstGeom>
          <a:solidFill>
            <a:srgbClr val="1E844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7804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178040" y="1965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Compare &amp; Report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78040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FF"/>
                </a:solidFill>
              </a:rPr>
              <a:t>Cost, Time, Quality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DDDFF"/>
                </a:solidFill>
              </a:rPr>
              <a:t>Benchmark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246120"/>
            <a:ext cx="8412480" cy="1645920"/>
          </a:xfrm>
          <a:prstGeom prst="rect">
            <a:avLst/>
          </a:prstGeom>
          <a:solidFill>
            <a:srgbClr val="2A35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Core Modules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</a:rPr>
              <a:t>▸  sudos.py  →  All algorithms (Dijkstra, FW, TSP, Flow)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0325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</a:rPr>
              <a:t>▸  visualize.py  →  Matplotlib charts and route maps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4361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</a:rPr>
              <a:t>▸  tests/test_sudos.py  →  Unit tests for every function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ALGORITHMS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Algorithmic Paradigms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595360" cy="36576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984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Paradigm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08760" y="129844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Algorithm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129844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Complexity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129844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 in SUDOS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8595360" cy="502920"/>
          </a:xfrm>
          <a:prstGeom prst="rect">
            <a:avLst/>
          </a:prstGeom>
          <a:solidFill>
            <a:srgbClr val="141E35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691640"/>
            <a:ext cx="54864" cy="50292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7373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Graph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Dijkstra's SSSP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1737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O((V+E) log V)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17373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Depot → delivery shortest path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12848"/>
            <a:ext cx="8595360" cy="502920"/>
          </a:xfrm>
          <a:prstGeom prst="rect">
            <a:avLst/>
          </a:prstGeom>
          <a:solidFill>
            <a:srgbClr val="1A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212848"/>
            <a:ext cx="54864" cy="50292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2585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Graph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22585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Floyd-Warshall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22585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O(V³)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25856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All-pairs precomputation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34056"/>
            <a:ext cx="8595360" cy="502920"/>
          </a:xfrm>
          <a:prstGeom prst="rect">
            <a:avLst/>
          </a:prstGeom>
          <a:solidFill>
            <a:srgbClr val="141E35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2734056"/>
            <a:ext cx="54864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77977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Greedy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08760" y="277977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Nearest Neighbor TSP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0" y="2779776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O(N²)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27797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Fast route approximation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255264"/>
            <a:ext cx="8595360" cy="502920"/>
          </a:xfrm>
          <a:prstGeom prst="rect">
            <a:avLst/>
          </a:prstGeom>
          <a:solidFill>
            <a:srgbClr val="1A2545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255264"/>
            <a:ext cx="54864" cy="5029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30098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DP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08760" y="330098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Bitmask TSP (Held-Karp)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66160" y="330098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O(2ᴺ · N²)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330098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Exact optimal tour (N ≤ 20)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776472"/>
            <a:ext cx="8595360" cy="502920"/>
          </a:xfrm>
          <a:prstGeom prst="rect">
            <a:avLst/>
          </a:prstGeom>
          <a:solidFill>
            <a:srgbClr val="141E35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3776472"/>
            <a:ext cx="54864" cy="5029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8221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Approx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508760" y="38221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Nearest Insertion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66160" y="38221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O(N²)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0" y="38221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Better heuristic, 2× bound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297680"/>
            <a:ext cx="8595360" cy="502920"/>
          </a:xfrm>
          <a:prstGeom prst="rect">
            <a:avLst/>
          </a:prstGeom>
          <a:solidFill>
            <a:srgbClr val="1A2545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4297680"/>
            <a:ext cx="54864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43434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Flow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508760" y="4343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Ford-Fulkerson Max-Flow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566160" y="4343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O(V · E)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0" y="4343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Fair agent assignment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GRAPH ALGORITHMS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Algorithms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4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4206240" cy="4114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441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Dijkstra's Algorithm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Single-source shortest paths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13969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a min-heap (priority queue)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450592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Relaxes edges greedily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76148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non-negative weights ✓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07238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338328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on sample city: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369417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 → 5 : dist=18  path=[0,1,5]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 → 9 : dist=25  path=[0,1,5,9]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431596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 → 11: dist=37  path=[0,1,5,10,11]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4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325880"/>
            <a:ext cx="4206240" cy="4114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3441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Floyd-Warshall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82880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All-pairs shortest paths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213969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Triple nested loop over nodes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4880" y="2450592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dp[i][j] = min(dp[i][j],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276148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dp[i][k]+dp[k][j])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307238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0" y="338328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 in SUDOS: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0" y="369417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 → O(1) lookup for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0" y="4005072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pair during TSP routing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54880" y="431596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dist[0][11] = 37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FA8"/>
                </a:solidFill>
              </a:rPr>
              <a:t>Both algorithms pre-compute distances once — all TSP algorithms use these results in O(1)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TSP ALGORITHMS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Traveling Salesman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274320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25880"/>
            <a:ext cx="274320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5331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Greedy Nearest Neighbor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2560320" cy="25603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8836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35"/>
                </a:solidFill>
              </a:rPr>
              <a:t>O(N²) Heuristic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2212848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55"/>
                </a:solidFill>
              </a:rPr>
              <a:t>1.  Start at depot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2560320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55"/>
                </a:solidFill>
              </a:rPr>
              <a:t>2.  Move to nearest unvisited node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2907792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55"/>
                </a:solidFill>
              </a:rPr>
              <a:t>3.  Repeat until all visited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" y="3255264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55"/>
                </a:solidFill>
              </a:rPr>
              <a:t>4.  Return to depot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639312"/>
            <a:ext cx="2560320" cy="548640"/>
          </a:xfrm>
          <a:prstGeom prst="rect">
            <a:avLst/>
          </a:prstGeom>
          <a:solidFill>
            <a:srgbClr val="F0FAF5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3657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Cost = 83  |  Time = 0.013 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913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77"/>
                </a:solidFill>
              </a:rPr>
              <a:t>Fast, no optimality guarantee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72968" y="1325880"/>
            <a:ext cx="274320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1325880"/>
            <a:ext cx="274320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3264408" y="135331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DP Bitmask TSP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64408" y="1874520"/>
            <a:ext cx="2560320" cy="25603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1" name="Text 19"/>
          <p:cNvSpPr/>
          <p:nvPr/>
        </p:nvSpPr>
        <p:spPr>
          <a:xfrm>
            <a:off x="3264408" y="18836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9A7"/>
                </a:solidFill>
              </a:rPr>
              <a:t>O(2ᴺ·N²) Exact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82696" y="2212848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55"/>
                </a:solidFill>
              </a:rPr>
              <a:t>1.  dp[mask][i] = min cost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82696" y="2560320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55"/>
                </a:solidFill>
              </a:rPr>
              <a:t>2.  Visit subset 'mask', end at 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82696" y="2907792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55"/>
                </a:solidFill>
              </a:rPr>
              <a:t>3.  State transition over all edges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82696" y="3255264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55"/>
                </a:solidFill>
              </a:rPr>
              <a:t>4.  Reconstruct path via parent[]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64408" y="3639312"/>
            <a:ext cx="2560320" cy="548640"/>
          </a:xfrm>
          <a:prstGeom prst="rect">
            <a:avLst/>
          </a:prstGeom>
          <a:solidFill>
            <a:srgbClr val="F0FAF5"/>
          </a:solidFill>
          <a:ln/>
        </p:spPr>
      </p:sp>
      <p:sp>
        <p:nvSpPr>
          <p:cNvPr id="27" name="Text 25"/>
          <p:cNvSpPr/>
          <p:nvPr/>
        </p:nvSpPr>
        <p:spPr>
          <a:xfrm>
            <a:off x="3264408" y="3657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Cost = 83  |  Time = 0.195 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64408" y="3913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77"/>
                </a:solidFill>
              </a:rPr>
              <a:t>Optimal! Confirms heuristic quality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17336" y="1325880"/>
            <a:ext cx="274320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17336" y="1325880"/>
            <a:ext cx="2743200" cy="4572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1" name="Text 29"/>
          <p:cNvSpPr/>
          <p:nvPr/>
        </p:nvSpPr>
        <p:spPr>
          <a:xfrm>
            <a:off x="6208776" y="135331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Nearest Insertion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08776" y="1874520"/>
            <a:ext cx="2560320" cy="25603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3" name="Text 31"/>
          <p:cNvSpPr/>
          <p:nvPr/>
        </p:nvSpPr>
        <p:spPr>
          <a:xfrm>
            <a:off x="6208776" y="18836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59B6"/>
                </a:solidFill>
              </a:rPr>
              <a:t>O(N²) Approx ≤2×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27064" y="2212848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55"/>
                </a:solidFill>
              </a:rPr>
              <a:t>1.  Start with 2-node tour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27064" y="2560320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55"/>
                </a:solidFill>
              </a:rPr>
              <a:t>2.  Find nearest unvisited node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27064" y="2907792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55"/>
                </a:solidFill>
              </a:rPr>
              <a:t>3.  Insert at cheapest position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27064" y="3255264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55"/>
                </a:solidFill>
              </a:rPr>
              <a:t>4.  Repeat until complete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08776" y="3639312"/>
            <a:ext cx="2560320" cy="548640"/>
          </a:xfrm>
          <a:prstGeom prst="rect">
            <a:avLst/>
          </a:prstGeom>
          <a:solidFill>
            <a:srgbClr val="F0FAF5"/>
          </a:solidFill>
          <a:ln/>
        </p:spPr>
      </p:sp>
      <p:sp>
        <p:nvSpPr>
          <p:cNvPr id="39" name="Text 37"/>
          <p:cNvSpPr/>
          <p:nvPr/>
        </p:nvSpPr>
        <p:spPr>
          <a:xfrm>
            <a:off x="6208776" y="3657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Cost = 83  |  Time = 0.024 ms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08776" y="3913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77"/>
                </a:solidFill>
              </a:rPr>
              <a:t>Best of both worlds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NETWORK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Agent Assignment via Max-Flow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914400" cy="640080"/>
          </a:xfrm>
          <a:prstGeom prst="ellipse">
            <a:avLst/>
          </a:prstGeom>
          <a:solidFill>
            <a:srgbClr val="00C9A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148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3E"/>
                </a:solidFill>
              </a:rPr>
              <a:t>SOURCE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920240" y="1463040"/>
            <a:ext cx="1188720" cy="594360"/>
          </a:xfrm>
          <a:prstGeom prst="rect">
            <a:avLst/>
          </a:prstGeom>
          <a:solidFill>
            <a:srgbClr val="1E5FA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0240" y="146304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cap=3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98448" y="2423160"/>
            <a:ext cx="621792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2926080"/>
            <a:ext cx="1188720" cy="594360"/>
          </a:xfrm>
          <a:prstGeom prst="rect">
            <a:avLst/>
          </a:prstGeom>
          <a:solidFill>
            <a:srgbClr val="1E5FA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20240" y="29260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cap=3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98448" y="2423160"/>
            <a:ext cx="621792" cy="59436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100584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0058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Zone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178308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17830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Zone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256032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Zone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333756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3337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Zone 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41148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4114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Zone 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2103120"/>
            <a:ext cx="914400" cy="640080"/>
          </a:xfrm>
          <a:prstGeom prst="ellipse">
            <a:avLst/>
          </a:prstGeom>
          <a:solidFill>
            <a:srgbClr val="E74C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60720" y="2148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SINK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</a:rPr>
              <a:t>cap=1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</a:rPr>
              <a:t>each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663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</a:rPr>
              <a:t>cap=1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</a:rPr>
              <a:t>each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58000" y="950976"/>
            <a:ext cx="2011680" cy="3703320"/>
          </a:xfrm>
          <a:prstGeom prst="rect">
            <a:avLst/>
          </a:prstGeom>
          <a:solidFill>
            <a:srgbClr val="2A35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4944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Results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Max Flow = 5/5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2121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All zones covered!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2414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2706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Agent 1: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</a:rPr>
              <a:t>  Nodes [3, 5, 7]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Agent 2: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38770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</a:rPr>
              <a:t>  Nodes [9, 11]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4169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49440" y="41010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No zone assigned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944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</a:rPr>
              <a:t>to 2 agents 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4745736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</a:rPr>
              <a:t>Ford-Fulkerson guarantees every delivery zone is assigned exactly once, respecting agent capacity constraints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3E"/>
                </a:solidFill>
              </a:rPr>
              <a:t>Algorithm Comparison &amp; Benchmarks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595360" cy="274320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Nearest Neighbor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O(N²)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Insertion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O(N²)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Bitmask (Exact)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N≤20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Floyd-Warshall (APSP)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V≤500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 (SSSP)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Large graphs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Ford-Fulkerson (assign)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Max-flow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O(VE)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251960"/>
            <a:ext cx="4160520" cy="658368"/>
          </a:xfrm>
          <a:prstGeom prst="rect">
            <a:avLst/>
          </a:prstGeom>
          <a:solidFill>
            <a:srgbClr val="F0FBF5"/>
          </a:solidFill>
          <a:ln w="12700">
            <a:solidFill>
              <a:srgbClr val="B2EF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427024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449"/>
                </a:solidFill>
              </a:rPr>
              <a:t>🎯  DP confirms: Heuristics found the EXACT optimal tour on this instance!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17720" y="4251960"/>
            <a:ext cx="4160520" cy="658368"/>
          </a:xfrm>
          <a:prstGeom prst="rect">
            <a:avLst/>
          </a:prstGeom>
          <a:solidFill>
            <a:srgbClr val="F0FBF5"/>
          </a:solidFill>
          <a:ln w="12700">
            <a:solidFill>
              <a:srgbClr val="B2EF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6"/>
          <p:cNvSpPr/>
          <p:nvPr/>
        </p:nvSpPr>
        <p:spPr>
          <a:xfrm>
            <a:off x="4754880" y="427024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35"/>
                </a:solidFill>
              </a:rPr>
              <a:t>⚡  Greedy is 15× faster than DP — critical for real-time delivery apps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3E"/>
                </a:solidFill>
              </a:rPr>
              <a:t>Multi-Agent Routing in Action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5029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533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0FE"/>
                </a:solidFill>
              </a:rPr>
              <a:t>City: 12 nodes  |  Depot: Node 0  |  Deliveries: [3, 5, 7, 9, 11]  |  Agents: 2  |  Algorithm: Greedy + Max-Flow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416052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65960"/>
            <a:ext cx="4160520" cy="4572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99339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🚚  Agent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55"/>
                </a:solidFill>
              </a:rPr>
              <a:t>Assigned Zones: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5, 7]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127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55"/>
                </a:solidFill>
              </a:rPr>
              <a:t>Route: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4015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→ 3 → 5 → 7 → 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6850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</a:rPr>
              <a:t>  0→3: 20 km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9319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</a:rPr>
              <a:t>  3→5: 21 km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1788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</a:rPr>
              <a:t>  5→7: 29 km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4256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</a:rPr>
              <a:t>  7→0: 11 km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572000"/>
            <a:ext cx="3931920" cy="201168"/>
          </a:xfrm>
          <a:prstGeom prst="rect">
            <a:avLst/>
          </a:prstGeom>
          <a:solidFill>
            <a:srgbClr val="EEF5FF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5811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5FA8"/>
                </a:solidFill>
              </a:rPr>
              <a:t>Total Cost: 81 km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1965960"/>
            <a:ext cx="416052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965960"/>
            <a:ext cx="416052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99339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🚚  Agent 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55"/>
                </a:solidFill>
              </a:rPr>
              <a:t>Assigned Zones: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[9, 11]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127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55"/>
                </a:solidFill>
              </a:rPr>
              <a:t>Route: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4015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→ 9 → 11 → 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6850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</a:rPr>
              <a:t>  0→9: 25 km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0" y="39319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</a:rPr>
              <a:t>  9→11: 14 km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41788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</a:rPr>
              <a:t>  11→0: 37 km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4572000"/>
            <a:ext cx="3931920" cy="201168"/>
          </a:xfrm>
          <a:prstGeom prst="rect">
            <a:avLst/>
          </a:prstGeom>
          <a:solidFill>
            <a:srgbClr val="EEF5FF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45811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Total Cost: 76 km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Combined fleet cost: 157 km  vs  83 km single agent  →  Each customer served ~2× faster!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Conclusions &amp;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603504"/>
          </a:xfrm>
          <a:prstGeom prst="rect">
            <a:avLst/>
          </a:prstGeom>
          <a:solidFill>
            <a:srgbClr val="2A35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54864" cy="60350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16128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E"/>
                </a:solidFill>
              </a:rPr>
              <a:t>Modeled city as a graph — applied 5 DAA paradigms to one real-world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19656"/>
            <a:ext cx="8595360" cy="603504"/>
          </a:xfrm>
          <a:prstGeom prst="rect">
            <a:avLst/>
          </a:prstGeom>
          <a:solidFill>
            <a:srgbClr val="2A35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19656"/>
            <a:ext cx="54864" cy="60350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837944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865376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E"/>
                </a:solidFill>
              </a:rPr>
              <a:t>Greedy NN: 0.013 ms | DP TSP (exact): 0.195 ms — DP is 15× slower, confirms heuristic was optimal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496312"/>
            <a:ext cx="8595360" cy="603504"/>
          </a:xfrm>
          <a:prstGeom prst="rect">
            <a:avLst/>
          </a:prstGeom>
          <a:solidFill>
            <a:srgbClr val="2A35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496312"/>
            <a:ext cx="54864" cy="60350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51460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54203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E"/>
                </a:solidFill>
              </a:rPr>
              <a:t>Max-Flow cleanly separates assignment from routing — each zone covered exactly once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172968"/>
            <a:ext cx="8595360" cy="603504"/>
          </a:xfrm>
          <a:prstGeom prst="rect">
            <a:avLst/>
          </a:prstGeom>
          <a:solidFill>
            <a:srgbClr val="2A35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172968"/>
            <a:ext cx="54864" cy="60350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321868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E"/>
                </a:solidFill>
              </a:rPr>
              <a:t>Floyd-Warshall precomputation saves repeated Dijkstra calls during TSP — amortized efficiency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849624"/>
            <a:ext cx="8595360" cy="603504"/>
          </a:xfrm>
          <a:prstGeom prst="rect">
            <a:avLst/>
          </a:prstGeom>
          <a:solidFill>
            <a:srgbClr val="2A35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49624"/>
            <a:ext cx="54864" cy="60350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867912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0120" y="3895344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E"/>
                </a:solidFill>
              </a:rPr>
              <a:t>Nearest Insertion achieves a proven 2× approximation bound — best heuristic for large 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SUDOS  |  GitHub: https://github.com/atviksharma/SUDOS-Smart-Urban-Delivery-Optimization-System.git|  All code open-source  |  April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1103</Words>
  <Application>Microsoft Office PowerPoint</Application>
  <PresentationFormat>On-screen Show (16:9)</PresentationFormat>
  <Paragraphs>243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SUDOS – Smart Urban Delivery Optimization System</dc:title>
  <dc:subject>PptxGenJS Presentation</dc:subject>
  <dc:creator>PptxGenJS</dc:creator>
  <cp:lastModifiedBy>Rohan Kumar</cp:lastModifiedBy>
  <cp:revision>8</cp:revision>
  <dcterms:created xsi:type="dcterms:W3CDTF">2026-04-16T06:53:27Z</dcterms:created>
  <dcterms:modified xsi:type="dcterms:W3CDTF">2026-04-26T13:10:19Z</dcterms:modified>
</cp:coreProperties>
</file>